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6" r:id="rId2"/>
    <p:sldId id="258" r:id="rId3"/>
    <p:sldId id="259" r:id="rId4"/>
    <p:sldId id="257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06C90"/>
    <a:srgbClr val="734B67"/>
    <a:srgbClr val="BDC4D9"/>
    <a:srgbClr val="BDBD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2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8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CA38D8-EF9F-4FDF-A1C3-D79A8E89F415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6CD1EB-6D08-4527-9D50-B1C34E651F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4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FICO contributed to 69% of the model’s ability to explain differences in interest 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1EB-6D08-4527-9D50-B1C34E651F1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3764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097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94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8287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618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620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171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6454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574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55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9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337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34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mlcasestudy-6gcbg5gah8xbv6gbwkm7sz.streamlit.app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9A72A2-9F95-2DFD-CAA4-63590C3CB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914400"/>
            <a:ext cx="5195889" cy="131673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/>
              <a:t>Loan Option Evaluation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2B951FD-94F7-E138-3EC2-A66A551D9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btitle 2">
            <a:extLst>
              <a:ext uri="{FF2B5EF4-FFF2-40B4-BE49-F238E27FC236}">
                <a16:creationId xmlns:a16="http://schemas.microsoft.com/office/drawing/2014/main" id="{6B2B25C2-88FC-F270-046A-D57787C648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2231136"/>
            <a:ext cx="5195889" cy="393192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Data Team:</a:t>
            </a:r>
          </a:p>
          <a:p>
            <a:r>
              <a:rPr lang="en-US" dirty="0"/>
              <a:t>Andrew Griffith</a:t>
            </a:r>
          </a:p>
          <a:p>
            <a:r>
              <a:rPr lang="en-US" dirty="0"/>
              <a:t>Christopher Russel</a:t>
            </a:r>
          </a:p>
          <a:p>
            <a:r>
              <a:rPr lang="en-US" dirty="0"/>
              <a:t>Joseph Seay</a:t>
            </a:r>
          </a:p>
          <a:p>
            <a:r>
              <a:rPr lang="en-US" dirty="0"/>
              <a:t>Sara Shockley</a:t>
            </a:r>
          </a:p>
        </p:txBody>
      </p:sp>
      <p:pic>
        <p:nvPicPr>
          <p:cNvPr id="4" name="Picture 3" descr="Pen placed on top of a signature line">
            <a:extLst>
              <a:ext uri="{FF2B5EF4-FFF2-40B4-BE49-F238E27FC236}">
                <a16:creationId xmlns:a16="http://schemas.microsoft.com/office/drawing/2014/main" id="{6D3175E7-92D6-B1A7-E19D-6FD2E46C7B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828" r="-2" b="-2"/>
          <a:stretch>
            <a:fillRect/>
          </a:stretch>
        </p:blipFill>
        <p:spPr>
          <a:xfrm>
            <a:off x="6420752" y="-1"/>
            <a:ext cx="5771248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554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399C-5011-CDFE-C605-597590A41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D3AEE-BF87-E5F1-6D26-A5D736EEC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Objective and Data</a:t>
            </a:r>
          </a:p>
          <a:p>
            <a:r>
              <a:rPr lang="en-US" dirty="0"/>
              <a:t>Findings</a:t>
            </a:r>
          </a:p>
          <a:p>
            <a:r>
              <a:rPr lang="en-US" dirty="0"/>
              <a:t>Results &amp;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8901611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47D9E-A7C9-1008-6525-7D333FB63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44FD7A2-B4AA-30CA-8C3C-23FC5C7A618D}"/>
              </a:ext>
            </a:extLst>
          </p:cNvPr>
          <p:cNvSpPr/>
          <p:nvPr/>
        </p:nvSpPr>
        <p:spPr>
          <a:xfrm>
            <a:off x="557118" y="2890973"/>
            <a:ext cx="5407677" cy="3186529"/>
          </a:xfrm>
          <a:prstGeom prst="roundRect">
            <a:avLst>
              <a:gd name="adj" fmla="val 3174"/>
            </a:avLst>
          </a:prstGeom>
          <a:solidFill>
            <a:srgbClr val="BDC4D9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74D668-4FF1-6B35-2AF9-C48C93532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Objective and Data</a:t>
            </a:r>
            <a:br>
              <a:rPr lang="en-US" dirty="0"/>
            </a:br>
            <a:r>
              <a:rPr lang="en-US" sz="2000" dirty="0">
                <a:latin typeface="Univers Condensed" panose="020B0506020202050204" pitchFamily="34" charset="0"/>
              </a:rPr>
              <a:t>Predicting Loan Interest Rates Using Borrower and Loan Characteristics</a:t>
            </a:r>
            <a:endParaRPr lang="en-US" dirty="0">
              <a:latin typeface="Univers Condensed" panose="020B050602020205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2FE3A-B2B6-1AB7-BE4E-D53B189145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6" y="3036626"/>
            <a:ext cx="5133782" cy="287749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2400" b="1" u="sng" dirty="0"/>
              <a:t>Data</a:t>
            </a:r>
          </a:p>
          <a:p>
            <a:r>
              <a:rPr lang="en-US" b="1" dirty="0"/>
              <a:t>Target:</a:t>
            </a:r>
            <a:r>
              <a:rPr lang="en-US" dirty="0"/>
              <a:t> Interest Rate</a:t>
            </a:r>
          </a:p>
          <a:p>
            <a:r>
              <a:rPr lang="en-US" b="1" dirty="0"/>
              <a:t>Features Analyzed: </a:t>
            </a:r>
          </a:p>
          <a:p>
            <a:pPr lvl="1"/>
            <a:r>
              <a:rPr lang="en-US" dirty="0"/>
              <a:t>FICO score (credit risk)</a:t>
            </a:r>
          </a:p>
          <a:p>
            <a:pPr lvl="1"/>
            <a:r>
              <a:rPr lang="en-US" dirty="0"/>
              <a:t>Loan length</a:t>
            </a:r>
          </a:p>
          <a:p>
            <a:pPr lvl="1"/>
            <a:r>
              <a:rPr lang="en-US" dirty="0"/>
              <a:t>Amount requested</a:t>
            </a:r>
          </a:p>
          <a:p>
            <a:pPr lvl="1"/>
            <a:r>
              <a:rPr lang="en-US" dirty="0"/>
              <a:t>Amount funded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D142B87-BABE-C741-3D0B-E34738AFC29B}"/>
              </a:ext>
            </a:extLst>
          </p:cNvPr>
          <p:cNvSpPr txBox="1">
            <a:spLocks/>
          </p:cNvSpPr>
          <p:nvPr/>
        </p:nvSpPr>
        <p:spPr>
          <a:xfrm>
            <a:off x="557118" y="2235936"/>
            <a:ext cx="10934247" cy="4582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Understand what factors drive the interest rate so borrowers can make informed decisions</a:t>
            </a:r>
          </a:p>
          <a:p>
            <a:pPr lvl="1" algn="ctr"/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82F6C3A-78BB-2EE0-F4D9-B0C0D907A054}"/>
              </a:ext>
            </a:extLst>
          </p:cNvPr>
          <p:cNvSpPr/>
          <p:nvPr/>
        </p:nvSpPr>
        <p:spPr>
          <a:xfrm>
            <a:off x="6108313" y="2890973"/>
            <a:ext cx="5407677" cy="3186529"/>
          </a:xfrm>
          <a:prstGeom prst="roundRect">
            <a:avLst>
              <a:gd name="adj" fmla="val 3174"/>
            </a:avLst>
          </a:prstGeom>
          <a:solidFill>
            <a:srgbClr val="BDC4D9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65CAB0F-D400-A77D-6876-B5825C3F5B66}"/>
              </a:ext>
            </a:extLst>
          </p:cNvPr>
          <p:cNvSpPr txBox="1">
            <a:spLocks/>
          </p:cNvSpPr>
          <p:nvPr/>
        </p:nvSpPr>
        <p:spPr>
          <a:xfrm>
            <a:off x="6232294" y="3050274"/>
            <a:ext cx="5133782" cy="28774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b="1" u="sng" dirty="0"/>
              <a:t>Approach</a:t>
            </a:r>
          </a:p>
          <a:p>
            <a:r>
              <a:rPr lang="en-US" sz="1800" dirty="0"/>
              <a:t>Statistical models</a:t>
            </a:r>
          </a:p>
          <a:p>
            <a:pPr lvl="1"/>
            <a:r>
              <a:rPr lang="en-US" dirty="0"/>
              <a:t>Linear Regression</a:t>
            </a:r>
          </a:p>
          <a:p>
            <a:pPr lvl="2"/>
            <a:r>
              <a:rPr lang="en-US" dirty="0"/>
              <a:t>Use coefficients to quantify relationships</a:t>
            </a:r>
          </a:p>
          <a:p>
            <a:pPr lvl="1"/>
            <a:r>
              <a:rPr lang="en-US" dirty="0"/>
              <a:t>Decision Tree Regressor</a:t>
            </a:r>
          </a:p>
          <a:p>
            <a:pPr lvl="2"/>
            <a:r>
              <a:rPr lang="en-US" dirty="0"/>
              <a:t>Use Feature Importance to evaluate </a:t>
            </a:r>
            <a:br>
              <a:rPr lang="en-US" dirty="0"/>
            </a:br>
            <a:r>
              <a:rPr lang="en-US" dirty="0"/>
              <a:t>rate drivers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23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2E9CF-99C6-D70E-3E14-B2ECFD842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Findings</a:t>
            </a:r>
            <a:br>
              <a:rPr lang="en-US" dirty="0"/>
            </a:br>
            <a:endParaRPr lang="en-US" dirty="0">
              <a:latin typeface="Univers Condensed" panose="020B0506020202050204" pitchFamily="34" charset="0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D43640C-737F-1AA9-24E4-1373D804B55B}"/>
              </a:ext>
            </a:extLst>
          </p:cNvPr>
          <p:cNvSpPr txBox="1">
            <a:spLocks/>
          </p:cNvSpPr>
          <p:nvPr/>
        </p:nvSpPr>
        <p:spPr>
          <a:xfrm>
            <a:off x="-207078" y="2467089"/>
            <a:ext cx="6474618" cy="4582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Initial analysis indicated credit score is a major driver</a:t>
            </a:r>
          </a:p>
          <a:p>
            <a:pPr lvl="1" algn="ctr"/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35C23DA-101B-51F5-EB1B-95DB2756EF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294"/>
          <a:stretch>
            <a:fillRect/>
          </a:stretch>
        </p:blipFill>
        <p:spPr>
          <a:xfrm>
            <a:off x="6267540" y="1568196"/>
            <a:ext cx="5492711" cy="4220719"/>
          </a:xfrm>
          <a:prstGeom prst="rect">
            <a:avLst/>
          </a:prstGeom>
        </p:spPr>
      </p:pic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D52078D2-091E-48C4-0E63-E7E61E5C8B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2569269"/>
              </p:ext>
            </p:extLst>
          </p:nvPr>
        </p:nvGraphicFramePr>
        <p:xfrm>
          <a:off x="1139810" y="3279764"/>
          <a:ext cx="3780841" cy="1483360"/>
        </p:xfrm>
        <a:graphic>
          <a:graphicData uri="http://schemas.openxmlformats.org/drawingml/2006/table">
            <a:tbl>
              <a:tblPr firstRow="1" bandRow="1">
                <a:tableStyleId>{18603FDC-E32A-4AB5-989C-0864C3EAD2B8}</a:tableStyleId>
              </a:tblPr>
              <a:tblGrid>
                <a:gridCol w="2061506">
                  <a:extLst>
                    <a:ext uri="{9D8B030D-6E8A-4147-A177-3AD203B41FA5}">
                      <a16:colId xmlns:a16="http://schemas.microsoft.com/office/drawing/2014/main" val="2310562725"/>
                    </a:ext>
                  </a:extLst>
                </a:gridCol>
                <a:gridCol w="1719335">
                  <a:extLst>
                    <a:ext uri="{9D8B030D-6E8A-4147-A177-3AD203B41FA5}">
                      <a16:colId xmlns:a16="http://schemas.microsoft.com/office/drawing/2014/main" val="2011188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Importance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54278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Amount Requested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8.86%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6176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1" dirty="0"/>
                        <a:t>FICO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69.04%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477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Loan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22.10%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0341389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300CC938-3A7E-3F7B-C5F5-CEB1D95B5A5A}"/>
              </a:ext>
            </a:extLst>
          </p:cNvPr>
          <p:cNvSpPr txBox="1"/>
          <p:nvPr/>
        </p:nvSpPr>
        <p:spPr>
          <a:xfrm>
            <a:off x="1139810" y="3033543"/>
            <a:ext cx="34973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Decision Tree Analysis</a:t>
            </a:r>
          </a:p>
        </p:txBody>
      </p:sp>
    </p:spTree>
    <p:extLst>
      <p:ext uri="{BB962C8B-B14F-4D97-AF65-F5344CB8AC3E}">
        <p14:creationId xmlns:p14="http://schemas.microsoft.com/office/powerpoint/2010/main" val="1295582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53372-16BF-9302-8C7A-E2BB44CF7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E0360C2-2DC6-E7E0-DDAE-ECB13017CB1A}"/>
              </a:ext>
            </a:extLst>
          </p:cNvPr>
          <p:cNvSpPr/>
          <p:nvPr/>
        </p:nvSpPr>
        <p:spPr>
          <a:xfrm>
            <a:off x="320494" y="5149480"/>
            <a:ext cx="11621571" cy="961615"/>
          </a:xfrm>
          <a:prstGeom prst="round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95FBF3-9709-546C-E8E8-21AA1F92B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Results and recommendations</a:t>
            </a:r>
            <a:br>
              <a:rPr lang="en-US" dirty="0"/>
            </a:br>
            <a:endParaRPr lang="en-US" dirty="0">
              <a:latin typeface="Univers Condensed" panose="020B050602020205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178765C-E620-4E18-C2EE-9BA5A3D34F24}"/>
              </a:ext>
            </a:extLst>
          </p:cNvPr>
          <p:cNvSpPr txBox="1">
            <a:spLocks/>
          </p:cNvSpPr>
          <p:nvPr/>
        </p:nvSpPr>
        <p:spPr>
          <a:xfrm>
            <a:off x="457653" y="5265524"/>
            <a:ext cx="10934247" cy="71521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Borrowers have the greatest opportunity to improve loan terms by strengthening credit factors and carefully selecting loan structure before applying.</a:t>
            </a:r>
          </a:p>
          <a:p>
            <a:pPr lvl="1" algn="ctr"/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8335B08-87A9-25B3-1412-6F02EBDD46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295500"/>
              </p:ext>
            </p:extLst>
          </p:nvPr>
        </p:nvGraphicFramePr>
        <p:xfrm>
          <a:off x="457653" y="1657551"/>
          <a:ext cx="11384223" cy="28910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0491">
                  <a:extLst>
                    <a:ext uri="{9D8B030D-6E8A-4147-A177-3AD203B41FA5}">
                      <a16:colId xmlns:a16="http://schemas.microsoft.com/office/drawing/2014/main" val="3669089556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4143318123"/>
                    </a:ext>
                  </a:extLst>
                </a:gridCol>
                <a:gridCol w="5175900">
                  <a:extLst>
                    <a:ext uri="{9D8B030D-6E8A-4147-A177-3AD203B41FA5}">
                      <a16:colId xmlns:a16="http://schemas.microsoft.com/office/drawing/2014/main" val="1705090492"/>
                    </a:ext>
                  </a:extLst>
                </a:gridCol>
              </a:tblGrid>
              <a:tr h="721338">
                <a:tc>
                  <a:txBody>
                    <a:bodyPr/>
                    <a:lstStyle/>
                    <a:p>
                      <a:r>
                        <a:rPr lang="en-US" dirty="0"/>
                        <a:t>Model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Interest Rate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Recommendation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9607305"/>
                  </a:ext>
                </a:extLst>
              </a:tr>
              <a:tr h="711457">
                <a:tc>
                  <a:txBody>
                    <a:bodyPr/>
                    <a:lstStyle/>
                    <a:p>
                      <a:r>
                        <a:rPr lang="en-US" dirty="0"/>
                        <a:t>FICO: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-</a:t>
                      </a:r>
                      <a:r>
                        <a:rPr lang="en-US" dirty="0"/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+50 points ~ 4.4% </a:t>
                      </a:r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Vigorously improve credit score prior to applying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460661"/>
                  </a:ext>
                </a:extLst>
              </a:tr>
              <a:tr h="736935">
                <a:tc>
                  <a:txBody>
                    <a:bodyPr/>
                    <a:lstStyle/>
                    <a:p>
                      <a:r>
                        <a:rPr lang="en-US" dirty="0"/>
                        <a:t>Loan Length: 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+</a:t>
                      </a:r>
                      <a:r>
                        <a:rPr lang="en-US" dirty="0"/>
                        <a:t>0.139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36 </a:t>
                      </a:r>
                      <a:r>
                        <a:rPr lang="en-US" dirty="0">
                          <a:latin typeface="Aptos" panose="020B0004020202020204" pitchFamily="34" charset="0"/>
                        </a:rPr>
                        <a:t>→ 60 months ~ 3.3% </a:t>
                      </a:r>
                      <a:r>
                        <a:rPr lang="en-US" dirty="0">
                          <a:solidFill>
                            <a:srgbClr val="FF0000"/>
                          </a:solidFill>
                          <a:latin typeface="Aptos" panose="020B0004020202020204" pitchFamily="34" charset="0"/>
                        </a:rPr>
                        <a:t>higher</a:t>
                      </a:r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Evaluate shorter repayment terms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4018958"/>
                  </a:ext>
                </a:extLst>
              </a:tr>
              <a:tr h="721338">
                <a:tc>
                  <a:txBody>
                    <a:bodyPr/>
                    <a:lstStyle/>
                    <a:p>
                      <a:r>
                        <a:rPr lang="en-US" dirty="0"/>
                        <a:t>Loan Amount: 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+</a:t>
                      </a:r>
                      <a:r>
                        <a:rPr lang="en-US" dirty="0"/>
                        <a:t>0.0001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 $10,000 ~ 1.4% 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higher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Borrow based on smallest actual need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150128"/>
                  </a:ext>
                </a:extLst>
              </a:tr>
            </a:tbl>
          </a:graphicData>
        </a:graphic>
      </p:graphicFrame>
      <p:sp>
        <p:nvSpPr>
          <p:cNvPr id="11" name="Arrow: Down 10">
            <a:extLst>
              <a:ext uri="{FF2B5EF4-FFF2-40B4-BE49-F238E27FC236}">
                <a16:creationId xmlns:a16="http://schemas.microsoft.com/office/drawing/2014/main" id="{EFB695EE-5C70-2931-8D80-0303016CEBC4}"/>
              </a:ext>
            </a:extLst>
          </p:cNvPr>
          <p:cNvSpPr/>
          <p:nvPr/>
        </p:nvSpPr>
        <p:spPr>
          <a:xfrm>
            <a:off x="3593056" y="4700368"/>
            <a:ext cx="4663440" cy="338328"/>
          </a:xfrm>
          <a:prstGeom prst="down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60000">
                <a:srgbClr val="A06C90"/>
              </a:gs>
              <a:gs pos="78000">
                <a:srgbClr val="A06C90"/>
              </a:gs>
              <a:gs pos="92000">
                <a:srgbClr val="734B67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34FEDD-BB37-D63C-F28A-E633E0DF205E}"/>
              </a:ext>
            </a:extLst>
          </p:cNvPr>
          <p:cNvSpPr txBox="1"/>
          <p:nvPr/>
        </p:nvSpPr>
        <p:spPr>
          <a:xfrm>
            <a:off x="457653" y="1480570"/>
            <a:ext cx="34973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Linear Regression Analysis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9E84EC-1033-7E06-BC51-5B349AE58B5A}"/>
              </a:ext>
            </a:extLst>
          </p:cNvPr>
          <p:cNvSpPr txBox="1"/>
          <p:nvPr/>
        </p:nvSpPr>
        <p:spPr>
          <a:xfrm>
            <a:off x="9899010" y="6359402"/>
            <a:ext cx="20430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2"/>
              </a:rPr>
              <a:t>Loan Interest Rate Predictor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001208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F47CB-09EF-8C95-12BA-C0D71B966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AF708-BC43-7434-B059-283D76EDC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8563F-F231-979E-4DB1-6BEBCBECC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Objective and Data</a:t>
            </a:r>
          </a:p>
          <a:p>
            <a:r>
              <a:rPr lang="en-US" dirty="0"/>
              <a:t>Findings</a:t>
            </a:r>
          </a:p>
          <a:p>
            <a:r>
              <a:rPr lang="en-US" dirty="0"/>
              <a:t>Results &amp; Recommendations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62D44D-609E-0ED7-9A8C-50B0C9BF989E}"/>
              </a:ext>
            </a:extLst>
          </p:cNvPr>
          <p:cNvSpPr txBox="1"/>
          <p:nvPr/>
        </p:nvSpPr>
        <p:spPr>
          <a:xfrm>
            <a:off x="6907530" y="4312843"/>
            <a:ext cx="75163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482047340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5541</TotalTime>
  <Words>234</Words>
  <Application>Microsoft Office PowerPoint</Application>
  <PresentationFormat>Widescreen</PresentationFormat>
  <Paragraphs>59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Arial</vt:lpstr>
      <vt:lpstr>Calisto MT</vt:lpstr>
      <vt:lpstr>Univers Condensed</vt:lpstr>
      <vt:lpstr>ChronicleVTI</vt:lpstr>
      <vt:lpstr>Loan Option Evaluation</vt:lpstr>
      <vt:lpstr>Overview</vt:lpstr>
      <vt:lpstr>Objective and Data Predicting Loan Interest Rates Using Borrower and Loan Characteristics</vt:lpstr>
      <vt:lpstr>Findings </vt:lpstr>
      <vt:lpstr>Results and recommendations 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Patrick Shockley</dc:creator>
  <cp:lastModifiedBy>Andrew Griffith</cp:lastModifiedBy>
  <cp:revision>9</cp:revision>
  <dcterms:created xsi:type="dcterms:W3CDTF">2026-06-18T21:39:57Z</dcterms:created>
  <dcterms:modified xsi:type="dcterms:W3CDTF">2026-06-22T18:09:49Z</dcterms:modified>
</cp:coreProperties>
</file>