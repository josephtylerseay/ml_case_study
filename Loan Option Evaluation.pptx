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8" r:id="rId3"/>
    <p:sldId id="259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6C90"/>
    <a:srgbClr val="734B67"/>
    <a:srgbClr val="BDC4D9"/>
    <a:srgbClr val="BDBD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2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A38D8-EF9F-4FDF-A1C3-D79A8E89F41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6CD1EB-6D08-4527-9D50-B1C34E651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FICO contributed to 69% of the model’s ability to explain differences in interest 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1EB-6D08-4527-9D50-B1C34E651F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76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97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94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28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61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20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7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4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57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39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37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49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9A72A2-9F95-2DFD-CAA4-63590C3CB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14400"/>
            <a:ext cx="5195889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Loan Option Evaluation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6B2B25C2-88FC-F270-046A-D57787C64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Data Team:</a:t>
            </a:r>
          </a:p>
          <a:p>
            <a:r>
              <a:rPr lang="en-US" dirty="0"/>
              <a:t>Andrew Griffith</a:t>
            </a:r>
          </a:p>
          <a:p>
            <a:r>
              <a:rPr lang="en-US" dirty="0"/>
              <a:t>Christopher Russel</a:t>
            </a:r>
          </a:p>
          <a:p>
            <a:r>
              <a:rPr lang="en-US" dirty="0"/>
              <a:t>Joseph Seay</a:t>
            </a:r>
          </a:p>
          <a:p>
            <a:r>
              <a:rPr lang="en-US" dirty="0"/>
              <a:t>Sara Shockley</a:t>
            </a:r>
          </a:p>
        </p:txBody>
      </p:sp>
      <p:pic>
        <p:nvPicPr>
          <p:cNvPr id="4" name="Picture 3" descr="Pen placed on top of a signature line">
            <a:extLst>
              <a:ext uri="{FF2B5EF4-FFF2-40B4-BE49-F238E27FC236}">
                <a16:creationId xmlns:a16="http://schemas.microsoft.com/office/drawing/2014/main" id="{6D3175E7-92D6-B1A7-E19D-6FD2E46C7B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828" r="-2" b="-2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554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399C-5011-CDFE-C605-597590A41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D3AEE-BF87-E5F1-6D26-A5D736EEC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 and Data</a:t>
            </a:r>
          </a:p>
          <a:p>
            <a:r>
              <a:rPr lang="en-US" dirty="0"/>
              <a:t>Findings</a:t>
            </a:r>
          </a:p>
          <a:p>
            <a:r>
              <a:rPr lang="en-US" dirty="0"/>
              <a:t>Results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890161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7D9E-A7C9-1008-6525-7D333FB63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4FD7A2-B4AA-30CA-8C3C-23FC5C7A618D}"/>
              </a:ext>
            </a:extLst>
          </p:cNvPr>
          <p:cNvSpPr/>
          <p:nvPr/>
        </p:nvSpPr>
        <p:spPr>
          <a:xfrm>
            <a:off x="557118" y="2890973"/>
            <a:ext cx="5407677" cy="3186529"/>
          </a:xfrm>
          <a:prstGeom prst="roundRect">
            <a:avLst>
              <a:gd name="adj" fmla="val 3174"/>
            </a:avLst>
          </a:prstGeom>
          <a:solidFill>
            <a:srgbClr val="BDC4D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4D668-4FF1-6B35-2AF9-C48C93532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Objective and Data</a:t>
            </a:r>
            <a:br>
              <a:rPr lang="en-US" dirty="0"/>
            </a:br>
            <a:r>
              <a:rPr lang="en-US" sz="2000" dirty="0">
                <a:latin typeface="Univers Condensed" panose="020B0506020202050204" pitchFamily="34" charset="0"/>
              </a:rPr>
              <a:t>Predicting Loan Interest Rates Using Borrower and Loan Characteristics</a:t>
            </a:r>
            <a:endParaRPr lang="en-US" dirty="0">
              <a:latin typeface="Univers Condensed" panose="020B050602020205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2FE3A-B2B6-1AB7-BE4E-D53B18914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3036626"/>
            <a:ext cx="5133782" cy="287749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u="sng" dirty="0"/>
              <a:t>Data</a:t>
            </a:r>
          </a:p>
          <a:p>
            <a:r>
              <a:rPr lang="en-US" b="1" dirty="0"/>
              <a:t>Target:</a:t>
            </a:r>
            <a:r>
              <a:rPr lang="en-US" dirty="0"/>
              <a:t> Interest Rate</a:t>
            </a:r>
          </a:p>
          <a:p>
            <a:r>
              <a:rPr lang="en-US" b="1" dirty="0"/>
              <a:t>Features Analyzed: </a:t>
            </a:r>
          </a:p>
          <a:p>
            <a:pPr lvl="1"/>
            <a:r>
              <a:rPr lang="en-US" dirty="0"/>
              <a:t>FICO score (credit risk)</a:t>
            </a:r>
          </a:p>
          <a:p>
            <a:pPr lvl="1"/>
            <a:r>
              <a:rPr lang="en-US" dirty="0"/>
              <a:t>Loan length</a:t>
            </a:r>
          </a:p>
          <a:p>
            <a:pPr lvl="1"/>
            <a:r>
              <a:rPr lang="en-US" dirty="0"/>
              <a:t>Amount requested</a:t>
            </a:r>
          </a:p>
          <a:p>
            <a:pPr lvl="1"/>
            <a:r>
              <a:rPr lang="en-US" dirty="0"/>
              <a:t>Amount funded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142B87-BABE-C741-3D0B-E34738AFC29B}"/>
              </a:ext>
            </a:extLst>
          </p:cNvPr>
          <p:cNvSpPr txBox="1">
            <a:spLocks/>
          </p:cNvSpPr>
          <p:nvPr/>
        </p:nvSpPr>
        <p:spPr>
          <a:xfrm>
            <a:off x="557118" y="2235936"/>
            <a:ext cx="10934247" cy="458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Understand what factors drive the interest rate so borrowers can make informed decisions</a:t>
            </a:r>
          </a:p>
          <a:p>
            <a:pPr lvl="1"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82F6C3A-78BB-2EE0-F4D9-B0C0D907A054}"/>
              </a:ext>
            </a:extLst>
          </p:cNvPr>
          <p:cNvSpPr/>
          <p:nvPr/>
        </p:nvSpPr>
        <p:spPr>
          <a:xfrm>
            <a:off x="6108313" y="2890973"/>
            <a:ext cx="5407677" cy="3186529"/>
          </a:xfrm>
          <a:prstGeom prst="roundRect">
            <a:avLst>
              <a:gd name="adj" fmla="val 3174"/>
            </a:avLst>
          </a:prstGeom>
          <a:solidFill>
            <a:srgbClr val="BDC4D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65CAB0F-D400-A77D-6876-B5825C3F5B66}"/>
              </a:ext>
            </a:extLst>
          </p:cNvPr>
          <p:cNvSpPr txBox="1">
            <a:spLocks/>
          </p:cNvSpPr>
          <p:nvPr/>
        </p:nvSpPr>
        <p:spPr>
          <a:xfrm>
            <a:off x="6232294" y="3050274"/>
            <a:ext cx="5133782" cy="2877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u="sng" dirty="0"/>
              <a:t>Approach</a:t>
            </a:r>
          </a:p>
          <a:p>
            <a:r>
              <a:rPr lang="en-US" sz="1800" dirty="0"/>
              <a:t>Statistical models</a:t>
            </a:r>
          </a:p>
          <a:p>
            <a:pPr lvl="1"/>
            <a:r>
              <a:rPr lang="en-US" dirty="0"/>
              <a:t>Linear Regression</a:t>
            </a:r>
          </a:p>
          <a:p>
            <a:pPr lvl="2"/>
            <a:r>
              <a:rPr lang="en-US" dirty="0"/>
              <a:t>Use coefficients to quantify relationships</a:t>
            </a:r>
          </a:p>
          <a:p>
            <a:pPr lvl="1"/>
            <a:r>
              <a:rPr lang="en-US" dirty="0"/>
              <a:t>Decision Tree Regressor</a:t>
            </a:r>
          </a:p>
          <a:p>
            <a:pPr lvl="2"/>
            <a:r>
              <a:rPr lang="en-US" dirty="0"/>
              <a:t>Use Feature Importance to evaluate </a:t>
            </a:r>
            <a:br>
              <a:rPr lang="en-US" dirty="0"/>
            </a:br>
            <a:r>
              <a:rPr lang="en-US" dirty="0"/>
              <a:t>rate drivers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23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2E9CF-99C6-D70E-3E14-B2ECFD842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Findings</a:t>
            </a:r>
            <a:br>
              <a:rPr lang="en-US" dirty="0"/>
            </a:br>
            <a:endParaRPr lang="en-US" dirty="0">
              <a:latin typeface="Univers Condensed" panose="020B050602020205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D43640C-737F-1AA9-24E4-1373D804B55B}"/>
              </a:ext>
            </a:extLst>
          </p:cNvPr>
          <p:cNvSpPr txBox="1">
            <a:spLocks/>
          </p:cNvSpPr>
          <p:nvPr/>
        </p:nvSpPr>
        <p:spPr>
          <a:xfrm>
            <a:off x="-207078" y="2467089"/>
            <a:ext cx="6474618" cy="458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Initial analysis indicated credit score is a major driver</a:t>
            </a:r>
          </a:p>
          <a:p>
            <a:pPr lvl="1"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35C23DA-101B-51F5-EB1B-95DB2756EF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94"/>
          <a:stretch>
            <a:fillRect/>
          </a:stretch>
        </p:blipFill>
        <p:spPr>
          <a:xfrm>
            <a:off x="6267540" y="1568196"/>
            <a:ext cx="5492711" cy="4220719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52078D2-091E-48C4-0E63-E7E61E5C8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569269"/>
              </p:ext>
            </p:extLst>
          </p:nvPr>
        </p:nvGraphicFramePr>
        <p:xfrm>
          <a:off x="1139810" y="3279764"/>
          <a:ext cx="3780841" cy="14833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61506">
                  <a:extLst>
                    <a:ext uri="{9D8B030D-6E8A-4147-A177-3AD203B41FA5}">
                      <a16:colId xmlns:a16="http://schemas.microsoft.com/office/drawing/2014/main" val="2310562725"/>
                    </a:ext>
                  </a:extLst>
                </a:gridCol>
                <a:gridCol w="1719335">
                  <a:extLst>
                    <a:ext uri="{9D8B030D-6E8A-4147-A177-3AD203B41FA5}">
                      <a16:colId xmlns:a16="http://schemas.microsoft.com/office/drawing/2014/main" val="2011188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Importance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427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Amount Requested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8.86%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176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FICO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69.04%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47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Loan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22.10%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34138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00CC938-3A7E-3F7B-C5F5-CEB1D95B5A5A}"/>
              </a:ext>
            </a:extLst>
          </p:cNvPr>
          <p:cNvSpPr txBox="1"/>
          <p:nvPr/>
        </p:nvSpPr>
        <p:spPr>
          <a:xfrm>
            <a:off x="1139810" y="3033543"/>
            <a:ext cx="3497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Decision Tree Analysis</a:t>
            </a:r>
          </a:p>
        </p:txBody>
      </p:sp>
    </p:spTree>
    <p:extLst>
      <p:ext uri="{BB962C8B-B14F-4D97-AF65-F5344CB8AC3E}">
        <p14:creationId xmlns:p14="http://schemas.microsoft.com/office/powerpoint/2010/main" val="1295582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53372-16BF-9302-8C7A-E2BB44CF7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E0360C2-2DC6-E7E0-DDAE-ECB13017CB1A}"/>
              </a:ext>
            </a:extLst>
          </p:cNvPr>
          <p:cNvSpPr/>
          <p:nvPr/>
        </p:nvSpPr>
        <p:spPr>
          <a:xfrm>
            <a:off x="320494" y="5149480"/>
            <a:ext cx="11621571" cy="961615"/>
          </a:xfrm>
          <a:prstGeom prst="round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95FBF3-9709-546C-E8E8-21AA1F92B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and recommendations</a:t>
            </a:r>
            <a:br>
              <a:rPr lang="en-US" dirty="0"/>
            </a:br>
            <a:endParaRPr lang="en-US" dirty="0">
              <a:latin typeface="Univers Condensed" panose="020B050602020205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178765C-E620-4E18-C2EE-9BA5A3D34F24}"/>
              </a:ext>
            </a:extLst>
          </p:cNvPr>
          <p:cNvSpPr txBox="1">
            <a:spLocks/>
          </p:cNvSpPr>
          <p:nvPr/>
        </p:nvSpPr>
        <p:spPr>
          <a:xfrm>
            <a:off x="457653" y="5265524"/>
            <a:ext cx="10934247" cy="7152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Borrowers have the greatest opportunity to improve loan terms by strengthening credit factors and carefully selecting loan structure before applying.</a:t>
            </a:r>
          </a:p>
          <a:p>
            <a:pPr lvl="1" algn="ct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335B08-87A9-25B3-1412-6F02EBDD4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295500"/>
              </p:ext>
            </p:extLst>
          </p:nvPr>
        </p:nvGraphicFramePr>
        <p:xfrm>
          <a:off x="457653" y="1657551"/>
          <a:ext cx="11384223" cy="2891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0491">
                  <a:extLst>
                    <a:ext uri="{9D8B030D-6E8A-4147-A177-3AD203B41FA5}">
                      <a16:colId xmlns:a16="http://schemas.microsoft.com/office/drawing/2014/main" val="3669089556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4143318123"/>
                    </a:ext>
                  </a:extLst>
                </a:gridCol>
                <a:gridCol w="5175900">
                  <a:extLst>
                    <a:ext uri="{9D8B030D-6E8A-4147-A177-3AD203B41FA5}">
                      <a16:colId xmlns:a16="http://schemas.microsoft.com/office/drawing/2014/main" val="1705090492"/>
                    </a:ext>
                  </a:extLst>
                </a:gridCol>
              </a:tblGrid>
              <a:tr h="721338">
                <a:tc>
                  <a:txBody>
                    <a:bodyPr/>
                    <a:lstStyle/>
                    <a:p>
                      <a:r>
                        <a:rPr lang="en-US" dirty="0"/>
                        <a:t>Model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Interest Rate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Recommendation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07305"/>
                  </a:ext>
                </a:extLst>
              </a:tr>
              <a:tr h="711457">
                <a:tc>
                  <a:txBody>
                    <a:bodyPr/>
                    <a:lstStyle/>
                    <a:p>
                      <a:r>
                        <a:rPr lang="en-US" dirty="0"/>
                        <a:t>FICO: </a:t>
                      </a:r>
                      <a:r>
                        <a:rPr lang="en-US" sz="2000" b="1" dirty="0">
                          <a:solidFill>
                            <a:srgbClr val="00B050"/>
                          </a:solidFill>
                        </a:rPr>
                        <a:t>-</a:t>
                      </a:r>
                      <a:r>
                        <a:rPr lang="en-US" dirty="0"/>
                        <a:t>0.088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+50 points ~ 4.4% </a:t>
                      </a: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Vigorously improve credit score prior to applying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460661"/>
                  </a:ext>
                </a:extLst>
              </a:tr>
              <a:tr h="736935">
                <a:tc>
                  <a:txBody>
                    <a:bodyPr/>
                    <a:lstStyle/>
                    <a:p>
                      <a:r>
                        <a:rPr lang="en-US" dirty="0"/>
                        <a:t>Loan Length: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en-US" dirty="0"/>
                        <a:t>0.139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 </a:t>
                      </a:r>
                      <a:r>
                        <a:rPr lang="en-US" dirty="0">
                          <a:latin typeface="Aptos" panose="020B0004020202020204" pitchFamily="34" charset="0"/>
                        </a:rPr>
                        <a:t>→ 60 months ~ 3.3%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Aptos" panose="020B0004020202020204" pitchFamily="34" charset="0"/>
                        </a:rPr>
                        <a:t>higher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Evaluate shorter repayment terms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018958"/>
                  </a:ext>
                </a:extLst>
              </a:tr>
              <a:tr h="721338">
                <a:tc>
                  <a:txBody>
                    <a:bodyPr/>
                    <a:lstStyle/>
                    <a:p>
                      <a:r>
                        <a:rPr lang="en-US" dirty="0"/>
                        <a:t>Loan Amount: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en-US" dirty="0"/>
                        <a:t>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$10,000 ~ 1.4%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higher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Borrow based on smallest actual need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150128"/>
                  </a:ext>
                </a:extLst>
              </a:tr>
            </a:tbl>
          </a:graphicData>
        </a:graphic>
      </p:graphicFrame>
      <p:sp>
        <p:nvSpPr>
          <p:cNvPr id="11" name="Arrow: Down 10">
            <a:extLst>
              <a:ext uri="{FF2B5EF4-FFF2-40B4-BE49-F238E27FC236}">
                <a16:creationId xmlns:a16="http://schemas.microsoft.com/office/drawing/2014/main" id="{EFB695EE-5C70-2931-8D80-0303016CEBC4}"/>
              </a:ext>
            </a:extLst>
          </p:cNvPr>
          <p:cNvSpPr/>
          <p:nvPr/>
        </p:nvSpPr>
        <p:spPr>
          <a:xfrm>
            <a:off x="3593056" y="4700368"/>
            <a:ext cx="4663440" cy="338328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60000">
                <a:srgbClr val="A06C90"/>
              </a:gs>
              <a:gs pos="78000">
                <a:srgbClr val="A06C90"/>
              </a:gs>
              <a:gs pos="92000">
                <a:srgbClr val="734B67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4FEDD-BB37-D63C-F28A-E633E0DF205E}"/>
              </a:ext>
            </a:extLst>
          </p:cNvPr>
          <p:cNvSpPr txBox="1"/>
          <p:nvPr/>
        </p:nvSpPr>
        <p:spPr>
          <a:xfrm>
            <a:off x="457653" y="1480570"/>
            <a:ext cx="3497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Linear Regression Analysis</a:t>
            </a:r>
          </a:p>
        </p:txBody>
      </p:sp>
    </p:spTree>
    <p:extLst>
      <p:ext uri="{BB962C8B-B14F-4D97-AF65-F5344CB8AC3E}">
        <p14:creationId xmlns:p14="http://schemas.microsoft.com/office/powerpoint/2010/main" val="4001208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F47CB-09EF-8C95-12BA-C0D71B96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AF708-BC43-7434-B059-283D76EDC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8563F-F231-979E-4DB1-6BEBCBECC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 and Data</a:t>
            </a:r>
          </a:p>
          <a:p>
            <a:r>
              <a:rPr lang="en-US" dirty="0"/>
              <a:t>Findings</a:t>
            </a:r>
          </a:p>
          <a:p>
            <a:r>
              <a:rPr lang="en-US" dirty="0"/>
              <a:t>Results &amp;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2D44D-609E-0ED7-9A8C-50B0C9BF989E}"/>
              </a:ext>
            </a:extLst>
          </p:cNvPr>
          <p:cNvSpPr txBox="1"/>
          <p:nvPr/>
        </p:nvSpPr>
        <p:spPr>
          <a:xfrm>
            <a:off x="6907530" y="4312843"/>
            <a:ext cx="7516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48204734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5468</TotalTime>
  <Words>230</Words>
  <Application>Microsoft Office PowerPoint</Application>
  <PresentationFormat>Widescreen</PresentationFormat>
  <Paragraphs>58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Calisto MT</vt:lpstr>
      <vt:lpstr>Univers Condensed</vt:lpstr>
      <vt:lpstr>ChronicleVTI</vt:lpstr>
      <vt:lpstr>Loan Option Evaluation</vt:lpstr>
      <vt:lpstr>Overview</vt:lpstr>
      <vt:lpstr>Objective and Data Predicting Loan Interest Rates Using Borrower and Loan Characteristics</vt:lpstr>
      <vt:lpstr>Findings </vt:lpstr>
      <vt:lpstr>Results and recommendations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Shockley</dc:creator>
  <cp:lastModifiedBy>Patrick Shockley</cp:lastModifiedBy>
  <cp:revision>7</cp:revision>
  <dcterms:created xsi:type="dcterms:W3CDTF">2026-06-18T21:39:57Z</dcterms:created>
  <dcterms:modified xsi:type="dcterms:W3CDTF">2026-06-22T16:48:56Z</dcterms:modified>
</cp:coreProperties>
</file>